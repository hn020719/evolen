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16459200" cx="3291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9pPr>
  </p:defaultTextStyle>
  <p:extLst>
    <p:ext uri="{EFAFB233-063F-42B5-8137-9DF3F51BA10A}">
      <p15:sldGuideLst>
        <p15:guide id="1" pos="576">
          <p15:clr>
            <a:srgbClr val="747775"/>
          </p15:clr>
        </p15:guide>
        <p15:guide id="2" orient="horz" pos="576">
          <p15:clr>
            <a:srgbClr val="747775"/>
          </p15:clr>
        </p15:guide>
        <p15:guide id="3" orient="horz" pos="20160">
          <p15:clr>
            <a:srgbClr val="747775"/>
          </p15:clr>
        </p15:guide>
        <p15:guide id="4" pos="270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/>
        <p:guide pos="576" orient="horz"/>
        <p:guide pos="20160" orient="horz"/>
        <p:guide pos="27072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6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:notes"/>
          <p:cNvSpPr/>
          <p:nvPr>
            <p:ph idx="2" type="sldImg"/>
          </p:nvPr>
        </p:nvSpPr>
        <p:spPr>
          <a:xfrm>
            <a:off x="114326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>
            <a:pPr>
              <a:defRPr>
                <a:latin typeface="Times New Roman"/>
              </a:defRPr>
            </a:pPr>
          </a:p>
        </p:txBody>
      </p:sp>
      <p:sp>
        <p:nvSpPr>
          <p:cNvPr id="130" name="Google Shape;1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Final print size: 72 x 36 inches. This slide is half scale (36 x 18 inches): print at 200%.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Figures: supplied figures/fig1_combiend_final.pdf, fig3_pmr_radar.pdf, fig4_bar.pdf, fig5.pdf, fig6_split.pdf. Text replaced with Times New Roman in derivative assets; source files unchanged. Figure geometry and numbers preserved. Institutional logo artwork retained unchanged.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Downstream: editable transcription of the baseline and compute-matched sections of Table 1, arXiv:2604.08698v2 page 9. Relative improvements copied from the paper rather than recomputed from rounded MCC values. No downstream figure was found in figures/.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Aggregate 40/56, +0.93 pp and CI refer to 100K comparisons (section 5.1). P3 evaluates alignment with phyloP, which also informs tokenizer construction.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References transcribed from the supplied paper. The full bibliography is available in the paper.</a:t>
            </a:r>
          </a:p>
          <a:p>
            <a:pPr>
              <a:defRPr>
                <a:latin typeface="Times New Roman"/>
              </a:defRPr>
            </a:p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ter Template 48&quot; x 36&quot;">
  <p:cSld name="TITLE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7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Arial"/>
        </a:defRPr>
      </a:lvl9pPr>
    </p:otherStyle>
  </p:txStyles>
  <p:extLst>
    <p:ext uri="{27BBF7A9-308A-43DC-89C8-2F10F3537804}">
      <p15:sldGuideLst>
        <p15:guide id="1" orient="horz" pos="288">
          <p15:clr>
            <a:srgbClr val="E46962"/>
          </p15:clr>
        </p15:guide>
        <p15:guide id="2" pos="288">
          <p15:clr>
            <a:srgbClr val="E46962"/>
          </p15:clr>
        </p15:guide>
        <p15:guide id="3" pos="27360">
          <p15:clr>
            <a:srgbClr val="E46962"/>
          </p15:clr>
        </p15:guide>
        <p15:guide id="4" orient="horz" pos="20448">
          <p15:clr>
            <a:srgbClr val="E46962"/>
          </p15:clr>
        </p15:guide>
        <p15:guide id="5" orient="horz" pos="2592">
          <p15:clr>
            <a:srgbClr val="E46962"/>
          </p15:clr>
        </p15:guide>
        <p15:guide id="6" orient="horz" pos="2304">
          <p15:clr>
            <a:srgbClr val="E46962"/>
          </p15:clr>
        </p15:guide>
        <p15:guide id="7" pos="18720">
          <p15:clr>
            <a:srgbClr val="E46962"/>
          </p15:clr>
        </p15:guide>
        <p15:guide id="8" pos="8928">
          <p15:clr>
            <a:srgbClr val="E46962"/>
          </p15:clr>
        </p15:guide>
        <p15:guide id="9" orient="horz" pos="19728">
          <p15:clr>
            <a:srgbClr val="E46962"/>
          </p15:clr>
        </p15:guide>
        <p15:guide id="10" orient="horz" pos="2016">
          <p15:clr>
            <a:srgbClr val="E46962"/>
          </p15:clr>
        </p15:guide>
        <p15:guide id="11" orient="horz" pos="19440">
          <p15:clr>
            <a:srgbClr val="E46962"/>
          </p15:clr>
        </p15:guide>
        <p15:guide id="12" orient="horz" pos="19152">
          <p15:clr>
            <a:srgbClr val="E46962"/>
          </p15:clr>
        </p15:guide>
        <p15:guide id="13" pos="8640">
          <p15:clr>
            <a:srgbClr val="E46962"/>
          </p15:clr>
        </p15:guide>
        <p15:guide id="14" pos="9216">
          <p15:clr>
            <a:srgbClr val="E46962"/>
          </p15:clr>
        </p15:guide>
        <p15:guide id="15" pos="18432">
          <p15:clr>
            <a:srgbClr val="E46962"/>
          </p15:clr>
        </p15:guide>
        <p15:guide id="16" pos="19018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/>
          <p:cNvSpPr/>
          <p:nvPr/>
        </p:nvSpPr>
        <p:spPr>
          <a:xfrm>
            <a:off x="0" y="0"/>
            <a:ext cx="32918400" cy="1874519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3" name="EvoLen: Evolution-Guided Tokenization for DNA Language Model"/>
          <p:cNvSpPr txBox="1"/>
          <p:nvPr/>
        </p:nvSpPr>
        <p:spPr>
          <a:xfrm>
            <a:off x="502920" y="228600"/>
            <a:ext cx="2971800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EvoLen: Evolution-Guided Tokenization for DNA Language Model</a:t>
            </a:r>
          </a:p>
        </p:txBody>
      </p:sp>
      <p:sp>
        <p:nvSpPr>
          <p:cNvPr id="134" name="Nan Huang¹, Xiaoxiao Zhou², Junxia Cui¹, Mario Tapia-Pacheco¹, Tiffany"/>
          <p:cNvSpPr txBox="1"/>
          <p:nvPr/>
        </p:nvSpPr>
        <p:spPr>
          <a:xfrm>
            <a:off x="530352" y="960120"/>
            <a:ext cx="29718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Nan Huang¹, Xiaoxiao Zhou², Junxia Cui¹, Mario Tapia-Pacheco¹, Tiffany Amariuta¹, Yang E. Li²*, Jingbo Shang¹*</a:t>
            </a:r>
          </a:p>
        </p:txBody>
      </p:sp>
      <p:sp>
        <p:nvSpPr>
          <p:cNvPr id="135" name="¹ University of California, San Diego   ·   ² Washington University in"/>
          <p:cNvSpPr txBox="1"/>
          <p:nvPr/>
        </p:nvSpPr>
        <p:spPr>
          <a:xfrm>
            <a:off x="530352" y="1435608"/>
            <a:ext cx="297180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¹ University of California, San Diego   ·   ² Washington University in St. Louis   ·   * Co-corresponding authors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19" y="237744"/>
            <a:ext cx="1362488" cy="1417320"/>
          </a:xfrm>
          <a:prstGeom prst="rect">
            <a:avLst/>
          </a:prstGeom>
        </p:spPr>
      </p:pic>
      <p:sp>
        <p:nvSpPr>
          <p:cNvPr id="137" name="Rectangle 136"/>
          <p:cNvSpPr/>
          <p:nvPr/>
        </p:nvSpPr>
        <p:spPr>
          <a:xfrm>
            <a:off x="502920" y="2212848"/>
            <a:ext cx="59436" cy="38404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8" name="MOTIVATION"/>
          <p:cNvSpPr txBox="1"/>
          <p:nvPr/>
        </p:nvSpPr>
        <p:spPr>
          <a:xfrm>
            <a:off x="667512" y="2199132"/>
            <a:ext cx="641908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MOTIVATION</a:t>
            </a:r>
          </a:p>
        </p:txBody>
      </p:sp>
      <p:sp>
        <p:nvSpPr>
          <p:cNvPr id="139" name="DNA has no natural&#10;token boundaries."/>
          <p:cNvSpPr txBox="1"/>
          <p:nvPr/>
        </p:nvSpPr>
        <p:spPr>
          <a:xfrm>
            <a:off x="685800" y="2862072"/>
            <a:ext cx="630936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DNA has no natural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token boundaries.</a:t>
            </a:r>
          </a:p>
        </p:txBody>
      </p:sp>
      <p:sp>
        <p:nvSpPr>
          <p:cNvPr id="140" name="BPE prioritizes sequence frequency. [2]"/>
          <p:cNvSpPr txBox="1"/>
          <p:nvPr/>
        </p:nvSpPr>
        <p:spPr>
          <a:xfrm>
            <a:off x="685800" y="3950208"/>
            <a:ext cx="62179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BPE prioritizes sequence frequency. [2]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85800" y="4617720"/>
            <a:ext cx="5897880" cy="1207008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42" name="Can evolutionary constraint&#10;guide better tokens?"/>
          <p:cNvSpPr txBox="1"/>
          <p:nvPr/>
        </p:nvSpPr>
        <p:spPr>
          <a:xfrm>
            <a:off x="896112" y="4818888"/>
            <a:ext cx="548640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Can evolutionary constraint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guide better tokens?</a:t>
            </a:r>
          </a:p>
        </p:txBody>
      </p:sp>
      <p:sp>
        <p:nvSpPr>
          <p:cNvPr id="143" name="WHAT SHOULD A&#10;GENOMIC TOKEN PRESERVE?"/>
          <p:cNvSpPr txBox="1"/>
          <p:nvPr/>
        </p:nvSpPr>
        <p:spPr>
          <a:xfrm>
            <a:off x="685800" y="6291072"/>
            <a:ext cx="594360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WHAT SHOULD A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GENOMIC TOKEN PRESERVE?</a:t>
            </a:r>
          </a:p>
        </p:txBody>
      </p:sp>
      <p:sp>
        <p:nvSpPr>
          <p:cNvPr id="144" name="P1"/>
          <p:cNvSpPr txBox="1"/>
          <p:nvPr/>
        </p:nvSpPr>
        <p:spPr>
          <a:xfrm>
            <a:off x="704088" y="7242048"/>
            <a:ext cx="457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P1</a:t>
            </a:r>
          </a:p>
        </p:txBody>
      </p:sp>
      <p:sp>
        <p:nvSpPr>
          <p:cNvPr id="145" name="Functional integrity"/>
          <p:cNvSpPr txBox="1"/>
          <p:nvPr/>
        </p:nvSpPr>
        <p:spPr>
          <a:xfrm>
            <a:off x="1271016" y="7242048"/>
            <a:ext cx="5394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Functional integrity</a:t>
            </a:r>
          </a:p>
        </p:txBody>
      </p:sp>
      <p:sp>
        <p:nvSpPr>
          <p:cNvPr id="146" name="P2"/>
          <p:cNvSpPr txBox="1"/>
          <p:nvPr/>
        </p:nvSpPr>
        <p:spPr>
          <a:xfrm>
            <a:off x="704088" y="7662672"/>
            <a:ext cx="457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P2</a:t>
            </a:r>
          </a:p>
        </p:txBody>
      </p:sp>
      <p:sp>
        <p:nvSpPr>
          <p:cNvPr id="147" name="Regulatory specificity"/>
          <p:cNvSpPr txBox="1"/>
          <p:nvPr/>
        </p:nvSpPr>
        <p:spPr>
          <a:xfrm>
            <a:off x="1271016" y="7662672"/>
            <a:ext cx="5394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Regulatory specificity</a:t>
            </a:r>
          </a:p>
        </p:txBody>
      </p:sp>
      <p:sp>
        <p:nvSpPr>
          <p:cNvPr id="148" name="P3"/>
          <p:cNvSpPr txBox="1"/>
          <p:nvPr/>
        </p:nvSpPr>
        <p:spPr>
          <a:xfrm>
            <a:off x="704088" y="8083296"/>
            <a:ext cx="457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P3</a:t>
            </a:r>
          </a:p>
        </p:txBody>
      </p:sp>
      <p:sp>
        <p:nvSpPr>
          <p:cNvPr id="149" name="Evolutionary consistency"/>
          <p:cNvSpPr txBox="1"/>
          <p:nvPr/>
        </p:nvSpPr>
        <p:spPr>
          <a:xfrm>
            <a:off x="1271016" y="8083296"/>
            <a:ext cx="5394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Evolutionary consistency</a:t>
            </a:r>
          </a:p>
        </p:txBody>
      </p:sp>
      <p:sp>
        <p:nvSpPr>
          <p:cNvPr id="150" name="P4"/>
          <p:cNvSpPr txBox="1"/>
          <p:nvPr/>
        </p:nvSpPr>
        <p:spPr>
          <a:xfrm>
            <a:off x="704088" y="8503920"/>
            <a:ext cx="457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P4</a:t>
            </a:r>
          </a:p>
        </p:txBody>
      </p:sp>
      <p:sp>
        <p:nvSpPr>
          <p:cNvPr id="151" name="Pattern recurrence"/>
          <p:cNvSpPr txBox="1"/>
          <p:nvPr/>
        </p:nvSpPr>
        <p:spPr>
          <a:xfrm>
            <a:off x="1271016" y="8503920"/>
            <a:ext cx="5394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Pattern recurrence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949440" y="2221992"/>
            <a:ext cx="12801" cy="6684264"/>
          </a:xfrm>
          <a:prstGeom prst="rect">
            <a:avLst/>
          </a:prstGeom>
          <a:solidFill>
            <a:srgbClr val="D7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53" name="Rectangle 152"/>
          <p:cNvSpPr/>
          <p:nvPr/>
        </p:nvSpPr>
        <p:spPr>
          <a:xfrm>
            <a:off x="7360920" y="2212848"/>
            <a:ext cx="59436" cy="38404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54" name="EVOLEN TOKENIZER"/>
          <p:cNvSpPr txBox="1"/>
          <p:nvPr/>
        </p:nvSpPr>
        <p:spPr>
          <a:xfrm>
            <a:off x="7525512" y="2199132"/>
            <a:ext cx="1158544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EVOLEN TOKENIZER</a:t>
            </a:r>
          </a:p>
        </p:txBody>
      </p:sp>
      <p:sp>
        <p:nvSpPr>
          <p:cNvPr id="155" name="Evolution-guided vocabulary · Length-aware decoding"/>
          <p:cNvSpPr txBox="1"/>
          <p:nvPr/>
        </p:nvSpPr>
        <p:spPr>
          <a:xfrm>
            <a:off x="7525512" y="2816352"/>
            <a:ext cx="113385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Evolution-guided vocabulary · Length-aware decoding</a:t>
            </a:r>
          </a:p>
        </p:txBody>
      </p:sp>
      <p:pic>
        <p:nvPicPr>
          <p:cNvPr id="156" name="Figure: fig1_combiend_final (Times New Roman)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5" y="3863906"/>
            <a:ext cx="11612880" cy="4269115"/>
          </a:xfrm>
          <a:prstGeom prst="rect">
            <a:avLst/>
          </a:prstGeom>
        </p:spPr>
      </p:pic>
      <p:sp>
        <p:nvSpPr>
          <p:cNvPr id="157" name="Evolutionary signal: phyloP [3]   ·   Pipeline: EvoLen [1]"/>
          <p:cNvSpPr txBox="1"/>
          <p:nvPr/>
        </p:nvSpPr>
        <p:spPr>
          <a:xfrm>
            <a:off x="7525512" y="8467344"/>
            <a:ext cx="113385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Evolutionary signal: phyloP [3]   ·   Pipeline: EvoLen [1]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9312128" y="2221992"/>
            <a:ext cx="12801" cy="6684264"/>
          </a:xfrm>
          <a:prstGeom prst="rect">
            <a:avLst/>
          </a:prstGeom>
          <a:solidFill>
            <a:srgbClr val="D7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59" name="Rectangle 158"/>
          <p:cNvSpPr/>
          <p:nvPr/>
        </p:nvSpPr>
        <p:spPr>
          <a:xfrm>
            <a:off x="19732752" y="2212848"/>
            <a:ext cx="59436" cy="38404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60" name="BIOLOGICAL VALIDATION"/>
          <p:cNvSpPr txBox="1"/>
          <p:nvPr/>
        </p:nvSpPr>
        <p:spPr>
          <a:xfrm>
            <a:off x="19897344" y="2199132"/>
            <a:ext cx="1245412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BIOLOGICAL VALIDATION</a:t>
            </a:r>
          </a:p>
        </p:txBody>
      </p:sp>
      <p:sp>
        <p:nvSpPr>
          <p:cNvPr id="161" name="Are the tokens more biologically meaningful?"/>
          <p:cNvSpPr txBox="1"/>
          <p:nvPr/>
        </p:nvSpPr>
        <p:spPr>
          <a:xfrm>
            <a:off x="19897344" y="2816352"/>
            <a:ext cx="120243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Are the tokens more biologically meaningful?</a:t>
            </a:r>
          </a:p>
        </p:txBody>
      </p:sp>
      <p:sp>
        <p:nvSpPr>
          <p:cNvPr id="162" name="P1 · Motif preservation"/>
          <p:cNvSpPr txBox="1"/>
          <p:nvPr/>
        </p:nvSpPr>
        <p:spPr>
          <a:xfrm>
            <a:off x="19778472" y="3557016"/>
            <a:ext cx="3968496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P1 · Motif preservation</a:t>
            </a:r>
          </a:p>
        </p:txBody>
      </p:sp>
      <p:pic>
        <p:nvPicPr>
          <p:cNvPr id="163" name="Figure: fig3_pmr_radar (Times New Roman)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716" y="4151376"/>
            <a:ext cx="3514007" cy="3557016"/>
          </a:xfrm>
          <a:prstGeom prst="rect">
            <a:avLst/>
          </a:prstGeom>
        </p:spPr>
      </p:pic>
      <p:sp>
        <p:nvSpPr>
          <p:cNvPr id="164" name="+27.4%"/>
          <p:cNvSpPr txBox="1"/>
          <p:nvPr/>
        </p:nvSpPr>
        <p:spPr>
          <a:xfrm>
            <a:off x="19778472" y="7946136"/>
            <a:ext cx="3968496" cy="52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+27.4%</a:t>
            </a:r>
          </a:p>
        </p:txBody>
      </p:sp>
      <p:sp>
        <p:nvSpPr>
          <p:cNvPr id="165" name="JASPAR motifs [4]; vocab 5,120"/>
          <p:cNvSpPr txBox="1"/>
          <p:nvPr/>
        </p:nvSpPr>
        <p:spPr>
          <a:xfrm>
            <a:off x="19778472" y="8476488"/>
            <a:ext cx="396849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JASPAR motifs [4]; vocab 5,120</a:t>
            </a:r>
          </a:p>
        </p:txBody>
      </p:sp>
      <p:sp>
        <p:nvSpPr>
          <p:cNvPr id="166" name="P2 · Region separation"/>
          <p:cNvSpPr txBox="1"/>
          <p:nvPr/>
        </p:nvSpPr>
        <p:spPr>
          <a:xfrm>
            <a:off x="23975568" y="3557016"/>
            <a:ext cx="37490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P2 · Region separation</a:t>
            </a:r>
          </a:p>
        </p:txBody>
      </p:sp>
      <p:pic>
        <p:nvPicPr>
          <p:cNvPr id="167" name="Figure: fig4_bar (Times New Roman)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5568" y="4182646"/>
            <a:ext cx="3749039" cy="3494475"/>
          </a:xfrm>
          <a:prstGeom prst="rect">
            <a:avLst/>
          </a:prstGeom>
        </p:spPr>
      </p:pic>
      <p:sp>
        <p:nvSpPr>
          <p:cNvPr id="168" name="+41–53%"/>
          <p:cNvSpPr txBox="1"/>
          <p:nvPr/>
        </p:nvSpPr>
        <p:spPr>
          <a:xfrm>
            <a:off x="23975568" y="7946136"/>
            <a:ext cx="3749039" cy="52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+41–53%</a:t>
            </a:r>
          </a:p>
        </p:txBody>
      </p:sp>
      <p:sp>
        <p:nvSpPr>
          <p:cNvPr id="169" name="Jensen–Shannon distance"/>
          <p:cNvSpPr txBox="1"/>
          <p:nvPr/>
        </p:nvSpPr>
        <p:spPr>
          <a:xfrm>
            <a:off x="23975568" y="8476488"/>
            <a:ext cx="37490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Jensen–Shannon distance</a:t>
            </a:r>
          </a:p>
        </p:txBody>
      </p:sp>
      <p:sp>
        <p:nvSpPr>
          <p:cNvPr id="170" name="P3 · Evolutionary alignment"/>
          <p:cNvSpPr txBox="1"/>
          <p:nvPr/>
        </p:nvSpPr>
        <p:spPr>
          <a:xfrm>
            <a:off x="28044648" y="3557016"/>
            <a:ext cx="43434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P3 · Evolutionary alignment</a:t>
            </a:r>
          </a:p>
        </p:txBody>
      </p:sp>
      <p:pic>
        <p:nvPicPr>
          <p:cNvPr id="171" name="Figure: fig5 (Times New Roman)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4648" y="4296796"/>
            <a:ext cx="4343400" cy="3266175"/>
          </a:xfrm>
          <a:prstGeom prst="rect">
            <a:avLst/>
          </a:prstGeom>
        </p:spPr>
      </p:pic>
      <p:sp>
        <p:nvSpPr>
          <p:cNvPr id="172" name="Up to +14.4%"/>
          <p:cNvSpPr txBox="1"/>
          <p:nvPr/>
        </p:nvSpPr>
        <p:spPr>
          <a:xfrm>
            <a:off x="28044648" y="7946136"/>
            <a:ext cx="4343400" cy="52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Up to +14.4%</a:t>
            </a:r>
          </a:p>
        </p:txBody>
      </p:sp>
      <p:sp>
        <p:nvSpPr>
          <p:cNvPr id="173" name="Mean token phyloP"/>
          <p:cNvSpPr txBox="1"/>
          <p:nvPr/>
        </p:nvSpPr>
        <p:spPr>
          <a:xfrm>
            <a:off x="28044648" y="8476488"/>
            <a:ext cx="4343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Mean token phyloP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02920" y="9153144"/>
            <a:ext cx="31885127" cy="14630"/>
          </a:xfrm>
          <a:prstGeom prst="rect">
            <a:avLst/>
          </a:prstGeom>
          <a:solidFill>
            <a:srgbClr val="D7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75" name="Rectangle 174"/>
          <p:cNvSpPr/>
          <p:nvPr/>
        </p:nvSpPr>
        <p:spPr>
          <a:xfrm>
            <a:off x="502920" y="9464040"/>
            <a:ext cx="59436" cy="38404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76" name="FUNCTIONAL PATTERN ANALYSIS"/>
          <p:cNvSpPr txBox="1"/>
          <p:nvPr/>
        </p:nvSpPr>
        <p:spPr>
          <a:xfrm>
            <a:off x="667512" y="9450324"/>
            <a:ext cx="957376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FUNCTIONAL PATTERN ANALYSIS</a:t>
            </a:r>
          </a:p>
        </p:txBody>
      </p:sp>
      <p:pic>
        <p:nvPicPr>
          <p:cNvPr id="177" name="Figure: fig6_split (Times New Roman)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0985" y="10094976"/>
            <a:ext cx="4868492" cy="3602736"/>
          </a:xfrm>
          <a:prstGeom prst="rect">
            <a:avLst/>
          </a:prstGeom>
        </p:spPr>
      </p:pic>
      <p:sp>
        <p:nvSpPr>
          <p:cNvPr id="178" name="P4 · Stronger context-specific functional enrichment"/>
          <p:cNvSpPr txBox="1"/>
          <p:nvPr/>
        </p:nvSpPr>
        <p:spPr>
          <a:xfrm>
            <a:off x="685800" y="13780008"/>
            <a:ext cx="92354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P4 · Stronger context-specific functional enrichment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469880" y="9464040"/>
            <a:ext cx="12801" cy="4572000"/>
          </a:xfrm>
          <a:prstGeom prst="rect">
            <a:avLst/>
          </a:prstGeom>
          <a:solidFill>
            <a:srgbClr val="D7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80" name="Rectangle 179"/>
          <p:cNvSpPr/>
          <p:nvPr/>
        </p:nvSpPr>
        <p:spPr>
          <a:xfrm>
            <a:off x="10890504" y="9464040"/>
            <a:ext cx="59436" cy="38404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81" name="DOWNSTREAM PERFORMANCE"/>
          <p:cNvSpPr txBox="1"/>
          <p:nvPr/>
        </p:nvSpPr>
        <p:spPr>
          <a:xfrm>
            <a:off x="11055096" y="9450324"/>
            <a:ext cx="21323808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DOWNSTREAM PERFORMANCE</a:t>
            </a:r>
          </a:p>
        </p:txBody>
      </p:sp>
      <p:sp>
        <p:nvSpPr>
          <p:cNvPr id="182" name="Does better tokenization improve DNA language models?"/>
          <p:cNvSpPr txBox="1"/>
          <p:nvPr/>
        </p:nvSpPr>
        <p:spPr>
          <a:xfrm>
            <a:off x="11055096" y="10012680"/>
            <a:ext cx="210312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Does better tokenization improve DNA language models?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3341096" y="10460736"/>
            <a:ext cx="7406640" cy="265176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84" name="GUE [5]"/>
          <p:cNvSpPr txBox="1"/>
          <p:nvPr/>
        </p:nvSpPr>
        <p:spPr>
          <a:xfrm>
            <a:off x="13414248" y="10479024"/>
            <a:ext cx="7324344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GUE [5]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0802600" y="10460736"/>
            <a:ext cx="3675888" cy="265176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86" name="Genomic Benchmarks"/>
          <p:cNvSpPr txBox="1"/>
          <p:nvPr/>
        </p:nvSpPr>
        <p:spPr>
          <a:xfrm>
            <a:off x="20875752" y="10479024"/>
            <a:ext cx="35935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Genomic Benchmarks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4533352" y="10460736"/>
            <a:ext cx="4919472" cy="265176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88" name="Nucleotide Transformer"/>
          <p:cNvSpPr txBox="1"/>
          <p:nvPr/>
        </p:nvSpPr>
        <p:spPr>
          <a:xfrm>
            <a:off x="24606503" y="10479024"/>
            <a:ext cx="483717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Nucleotide Transformer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9507687" y="10460736"/>
            <a:ext cx="2432304" cy="265176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90" name="Regulatory"/>
          <p:cNvSpPr txBox="1"/>
          <p:nvPr/>
        </p:nvSpPr>
        <p:spPr>
          <a:xfrm>
            <a:off x="29580839" y="10479024"/>
            <a:ext cx="235000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Regulatory</a:t>
            </a:r>
          </a:p>
        </p:txBody>
      </p:sp>
      <p:sp>
        <p:nvSpPr>
          <p:cNvPr id="191" name="MCC (%) [1]"/>
          <p:cNvSpPr txBox="1"/>
          <p:nvPr/>
        </p:nvSpPr>
        <p:spPr>
          <a:xfrm>
            <a:off x="11009376" y="10808208"/>
            <a:ext cx="2331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MCC (%) [1]</a:t>
            </a:r>
          </a:p>
        </p:txBody>
      </p:sp>
      <p:sp>
        <p:nvSpPr>
          <p:cNvPr id="192" name="Yeast"/>
          <p:cNvSpPr txBox="1"/>
          <p:nvPr/>
        </p:nvSpPr>
        <p:spPr>
          <a:xfrm>
            <a:off x="13341096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Yeast</a:t>
            </a:r>
          </a:p>
        </p:txBody>
      </p:sp>
      <p:sp>
        <p:nvSpPr>
          <p:cNvPr id="193" name="Mouse"/>
          <p:cNvSpPr txBox="1"/>
          <p:nvPr/>
        </p:nvSpPr>
        <p:spPr>
          <a:xfrm>
            <a:off x="14584680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Mouse</a:t>
            </a:r>
          </a:p>
        </p:txBody>
      </p:sp>
      <p:sp>
        <p:nvSpPr>
          <p:cNvPr id="194" name="Prom-300"/>
          <p:cNvSpPr txBox="1"/>
          <p:nvPr/>
        </p:nvSpPr>
        <p:spPr>
          <a:xfrm>
            <a:off x="15828263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Prom-300</a:t>
            </a:r>
          </a:p>
        </p:txBody>
      </p:sp>
      <p:sp>
        <p:nvSpPr>
          <p:cNvPr id="195" name="Prom-core"/>
          <p:cNvSpPr txBox="1"/>
          <p:nvPr/>
        </p:nvSpPr>
        <p:spPr>
          <a:xfrm>
            <a:off x="17071848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Prom-core</a:t>
            </a:r>
          </a:p>
        </p:txBody>
      </p:sp>
      <p:sp>
        <p:nvSpPr>
          <p:cNvPr id="196" name="Splice"/>
          <p:cNvSpPr txBox="1"/>
          <p:nvPr/>
        </p:nvSpPr>
        <p:spPr>
          <a:xfrm>
            <a:off x="18315432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Splice</a:t>
            </a:r>
          </a:p>
        </p:txBody>
      </p:sp>
      <p:sp>
        <p:nvSpPr>
          <p:cNvPr id="197" name="TF bind"/>
          <p:cNvSpPr txBox="1"/>
          <p:nvPr/>
        </p:nvSpPr>
        <p:spPr>
          <a:xfrm>
            <a:off x="19559016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TF bind</a:t>
            </a:r>
          </a:p>
        </p:txBody>
      </p:sp>
      <p:sp>
        <p:nvSpPr>
          <p:cNvPr id="198" name="Human reg"/>
          <p:cNvSpPr txBox="1"/>
          <p:nvPr/>
        </p:nvSpPr>
        <p:spPr>
          <a:xfrm>
            <a:off x="20802600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Human reg</a:t>
            </a:r>
          </a:p>
        </p:txBody>
      </p:sp>
      <p:sp>
        <p:nvSpPr>
          <p:cNvPr id="199" name="Mouse enh"/>
          <p:cNvSpPr txBox="1"/>
          <p:nvPr/>
        </p:nvSpPr>
        <p:spPr>
          <a:xfrm>
            <a:off x="22046184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Mouse enh</a:t>
            </a:r>
          </a:p>
        </p:txBody>
      </p:sp>
      <p:sp>
        <p:nvSpPr>
          <p:cNvPr id="200" name="Invert."/>
          <p:cNvSpPr txBox="1"/>
          <p:nvPr/>
        </p:nvSpPr>
        <p:spPr>
          <a:xfrm>
            <a:off x="23289768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Invert.</a:t>
            </a:r>
          </a:p>
        </p:txBody>
      </p:sp>
      <p:sp>
        <p:nvSpPr>
          <p:cNvPr id="201" name="Histone"/>
          <p:cNvSpPr txBox="1"/>
          <p:nvPr/>
        </p:nvSpPr>
        <p:spPr>
          <a:xfrm>
            <a:off x="24533352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Histone</a:t>
            </a:r>
          </a:p>
        </p:txBody>
      </p:sp>
      <p:sp>
        <p:nvSpPr>
          <p:cNvPr id="202" name="Enhancer"/>
          <p:cNvSpPr txBox="1"/>
          <p:nvPr/>
        </p:nvSpPr>
        <p:spPr>
          <a:xfrm>
            <a:off x="25776936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Enhancer</a:t>
            </a:r>
          </a:p>
        </p:txBody>
      </p:sp>
      <p:sp>
        <p:nvSpPr>
          <p:cNvPr id="203" name="Promoter"/>
          <p:cNvSpPr txBox="1"/>
          <p:nvPr/>
        </p:nvSpPr>
        <p:spPr>
          <a:xfrm>
            <a:off x="27020520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Promoter</a:t>
            </a:r>
          </a:p>
        </p:txBody>
      </p:sp>
      <p:sp>
        <p:nvSpPr>
          <p:cNvPr id="204" name="Splice"/>
          <p:cNvSpPr txBox="1"/>
          <p:nvPr/>
        </p:nvSpPr>
        <p:spPr>
          <a:xfrm>
            <a:off x="28264104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Splice</a:t>
            </a:r>
          </a:p>
        </p:txBody>
      </p:sp>
      <p:sp>
        <p:nvSpPr>
          <p:cNvPr id="205" name="cCRE"/>
          <p:cNvSpPr txBox="1"/>
          <p:nvPr/>
        </p:nvSpPr>
        <p:spPr>
          <a:xfrm>
            <a:off x="29507687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cCRE</a:t>
            </a:r>
          </a:p>
        </p:txBody>
      </p:sp>
      <p:sp>
        <p:nvSpPr>
          <p:cNvPr id="206" name="ATAC"/>
          <p:cNvSpPr txBox="1"/>
          <p:nvPr/>
        </p:nvSpPr>
        <p:spPr>
          <a:xfrm>
            <a:off x="30751272" y="10808208"/>
            <a:ext cx="120700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ATAC</a:t>
            </a:r>
          </a:p>
        </p:txBody>
      </p:sp>
      <p:sp>
        <p:nvSpPr>
          <p:cNvPr id="207" name="BPE · 100K"/>
          <p:cNvSpPr txBox="1"/>
          <p:nvPr/>
        </p:nvSpPr>
        <p:spPr>
          <a:xfrm>
            <a:off x="11009376" y="11201400"/>
            <a:ext cx="2240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BPE · 100K</a:t>
            </a:r>
          </a:p>
        </p:txBody>
      </p:sp>
      <p:sp>
        <p:nvSpPr>
          <p:cNvPr id="208" name="46.8"/>
          <p:cNvSpPr txBox="1"/>
          <p:nvPr/>
        </p:nvSpPr>
        <p:spPr>
          <a:xfrm>
            <a:off x="13341096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46.8</a:t>
            </a:r>
          </a:p>
        </p:txBody>
      </p:sp>
      <p:sp>
        <p:nvSpPr>
          <p:cNvPr id="209" name="56.5"/>
          <p:cNvSpPr txBox="1"/>
          <p:nvPr/>
        </p:nvSpPr>
        <p:spPr>
          <a:xfrm>
            <a:off x="14584680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56.5</a:t>
            </a:r>
          </a:p>
        </p:txBody>
      </p:sp>
      <p:sp>
        <p:nvSpPr>
          <p:cNvPr id="210" name="76.5"/>
          <p:cNvSpPr txBox="1"/>
          <p:nvPr/>
        </p:nvSpPr>
        <p:spPr>
          <a:xfrm>
            <a:off x="15828263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76.5</a:t>
            </a:r>
          </a:p>
        </p:txBody>
      </p:sp>
      <p:sp>
        <p:nvSpPr>
          <p:cNvPr id="211" name="64.2"/>
          <p:cNvSpPr txBox="1"/>
          <p:nvPr/>
        </p:nvSpPr>
        <p:spPr>
          <a:xfrm>
            <a:off x="17071848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64.2</a:t>
            </a:r>
          </a:p>
        </p:txBody>
      </p:sp>
      <p:sp>
        <p:nvSpPr>
          <p:cNvPr id="212" name="78.5"/>
          <p:cNvSpPr txBox="1"/>
          <p:nvPr/>
        </p:nvSpPr>
        <p:spPr>
          <a:xfrm>
            <a:off x="18315432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78.5</a:t>
            </a:r>
          </a:p>
        </p:txBody>
      </p:sp>
      <p:sp>
        <p:nvSpPr>
          <p:cNvPr id="213" name="57.8"/>
          <p:cNvSpPr txBox="1"/>
          <p:nvPr/>
        </p:nvSpPr>
        <p:spPr>
          <a:xfrm>
            <a:off x="19559016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57.8</a:t>
            </a:r>
          </a:p>
        </p:txBody>
      </p:sp>
      <p:sp>
        <p:nvSpPr>
          <p:cNvPr id="214" name="69.9"/>
          <p:cNvSpPr txBox="1"/>
          <p:nvPr/>
        </p:nvSpPr>
        <p:spPr>
          <a:xfrm>
            <a:off x="20802600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69.9</a:t>
            </a:r>
          </a:p>
        </p:txBody>
      </p:sp>
      <p:sp>
        <p:nvSpPr>
          <p:cNvPr id="215" name="58.1"/>
          <p:cNvSpPr txBox="1"/>
          <p:nvPr/>
        </p:nvSpPr>
        <p:spPr>
          <a:xfrm>
            <a:off x="22046184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58.1</a:t>
            </a:r>
          </a:p>
        </p:txBody>
      </p:sp>
      <p:sp>
        <p:nvSpPr>
          <p:cNvPr id="216" name="76.4"/>
          <p:cNvSpPr txBox="1"/>
          <p:nvPr/>
        </p:nvSpPr>
        <p:spPr>
          <a:xfrm>
            <a:off x="23289768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76.4</a:t>
            </a:r>
          </a:p>
        </p:txBody>
      </p:sp>
      <p:sp>
        <p:nvSpPr>
          <p:cNvPr id="217" name="53.7"/>
          <p:cNvSpPr txBox="1"/>
          <p:nvPr/>
        </p:nvSpPr>
        <p:spPr>
          <a:xfrm>
            <a:off x="24533352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53.7</a:t>
            </a:r>
          </a:p>
        </p:txBody>
      </p:sp>
      <p:sp>
        <p:nvSpPr>
          <p:cNvPr id="218" name="48.7"/>
          <p:cNvSpPr txBox="1"/>
          <p:nvPr/>
        </p:nvSpPr>
        <p:spPr>
          <a:xfrm>
            <a:off x="25776936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48.7</a:t>
            </a:r>
          </a:p>
        </p:txBody>
      </p:sp>
      <p:sp>
        <p:nvSpPr>
          <p:cNvPr id="219" name="74.7"/>
          <p:cNvSpPr txBox="1"/>
          <p:nvPr/>
        </p:nvSpPr>
        <p:spPr>
          <a:xfrm>
            <a:off x="27020520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74.7</a:t>
            </a:r>
          </a:p>
        </p:txBody>
      </p:sp>
      <p:sp>
        <p:nvSpPr>
          <p:cNvPr id="220" name="69.3"/>
          <p:cNvSpPr txBox="1"/>
          <p:nvPr/>
        </p:nvSpPr>
        <p:spPr>
          <a:xfrm>
            <a:off x="28264104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69.3</a:t>
            </a:r>
          </a:p>
        </p:txBody>
      </p:sp>
      <p:sp>
        <p:nvSpPr>
          <p:cNvPr id="221" name="21.9"/>
          <p:cNvSpPr txBox="1"/>
          <p:nvPr/>
        </p:nvSpPr>
        <p:spPr>
          <a:xfrm>
            <a:off x="29507687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21.9</a:t>
            </a:r>
          </a:p>
        </p:txBody>
      </p:sp>
      <p:sp>
        <p:nvSpPr>
          <p:cNvPr id="222" name="12.2"/>
          <p:cNvSpPr txBox="1"/>
          <p:nvPr/>
        </p:nvSpPr>
        <p:spPr>
          <a:xfrm>
            <a:off x="30751272" y="1120140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12.2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954511" y="11489436"/>
            <a:ext cx="21150072" cy="310896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224" name="EvoLen · 100K"/>
          <p:cNvSpPr txBox="1"/>
          <p:nvPr/>
        </p:nvSpPr>
        <p:spPr>
          <a:xfrm>
            <a:off x="11009376" y="11512296"/>
            <a:ext cx="2240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EvoLen · 100K</a:t>
            </a:r>
          </a:p>
        </p:txBody>
      </p:sp>
      <p:sp>
        <p:nvSpPr>
          <p:cNvPr id="225" name="46.8"/>
          <p:cNvSpPr txBox="1"/>
          <p:nvPr/>
        </p:nvSpPr>
        <p:spPr>
          <a:xfrm>
            <a:off x="13341096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46.8</a:t>
            </a:r>
          </a:p>
        </p:txBody>
      </p:sp>
      <p:sp>
        <p:nvSpPr>
          <p:cNvPr id="226" name="58.8"/>
          <p:cNvSpPr txBox="1"/>
          <p:nvPr/>
        </p:nvSpPr>
        <p:spPr>
          <a:xfrm>
            <a:off x="14584680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58.8</a:t>
            </a:r>
          </a:p>
        </p:txBody>
      </p:sp>
      <p:sp>
        <p:nvSpPr>
          <p:cNvPr id="227" name="78.5"/>
          <p:cNvSpPr txBox="1"/>
          <p:nvPr/>
        </p:nvSpPr>
        <p:spPr>
          <a:xfrm>
            <a:off x="15828263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78.5</a:t>
            </a:r>
          </a:p>
        </p:txBody>
      </p:sp>
      <p:sp>
        <p:nvSpPr>
          <p:cNvPr id="228" name="63.6"/>
          <p:cNvSpPr txBox="1"/>
          <p:nvPr/>
        </p:nvSpPr>
        <p:spPr>
          <a:xfrm>
            <a:off x="17071848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63.6</a:t>
            </a:r>
          </a:p>
        </p:txBody>
      </p:sp>
      <p:sp>
        <p:nvSpPr>
          <p:cNvPr id="229" name="75.2"/>
          <p:cNvSpPr txBox="1"/>
          <p:nvPr/>
        </p:nvSpPr>
        <p:spPr>
          <a:xfrm>
            <a:off x="18315432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75.2</a:t>
            </a:r>
          </a:p>
        </p:txBody>
      </p:sp>
      <p:sp>
        <p:nvSpPr>
          <p:cNvPr id="230" name="61.0"/>
          <p:cNvSpPr txBox="1"/>
          <p:nvPr/>
        </p:nvSpPr>
        <p:spPr>
          <a:xfrm>
            <a:off x="19559016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61.0</a:t>
            </a:r>
          </a:p>
        </p:txBody>
      </p:sp>
      <p:sp>
        <p:nvSpPr>
          <p:cNvPr id="231" name="70.3"/>
          <p:cNvSpPr txBox="1"/>
          <p:nvPr/>
        </p:nvSpPr>
        <p:spPr>
          <a:xfrm>
            <a:off x="20802600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70.3</a:t>
            </a:r>
          </a:p>
        </p:txBody>
      </p:sp>
      <p:sp>
        <p:nvSpPr>
          <p:cNvPr id="232" name="63.8"/>
          <p:cNvSpPr txBox="1"/>
          <p:nvPr/>
        </p:nvSpPr>
        <p:spPr>
          <a:xfrm>
            <a:off x="22046184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63.8</a:t>
            </a:r>
          </a:p>
        </p:txBody>
      </p:sp>
      <p:sp>
        <p:nvSpPr>
          <p:cNvPr id="233" name="76.1"/>
          <p:cNvSpPr txBox="1"/>
          <p:nvPr/>
        </p:nvSpPr>
        <p:spPr>
          <a:xfrm>
            <a:off x="23289768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76.1</a:t>
            </a:r>
          </a:p>
        </p:txBody>
      </p:sp>
      <p:sp>
        <p:nvSpPr>
          <p:cNvPr id="234" name="55.0"/>
          <p:cNvSpPr txBox="1"/>
          <p:nvPr/>
        </p:nvSpPr>
        <p:spPr>
          <a:xfrm>
            <a:off x="24533352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55.0</a:t>
            </a:r>
          </a:p>
        </p:txBody>
      </p:sp>
      <p:sp>
        <p:nvSpPr>
          <p:cNvPr id="235" name="49.6"/>
          <p:cNvSpPr txBox="1"/>
          <p:nvPr/>
        </p:nvSpPr>
        <p:spPr>
          <a:xfrm>
            <a:off x="25776936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49.6</a:t>
            </a:r>
          </a:p>
        </p:txBody>
      </p:sp>
      <p:sp>
        <p:nvSpPr>
          <p:cNvPr id="236" name="76.5"/>
          <p:cNvSpPr txBox="1"/>
          <p:nvPr/>
        </p:nvSpPr>
        <p:spPr>
          <a:xfrm>
            <a:off x="27020520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76.5</a:t>
            </a:r>
          </a:p>
        </p:txBody>
      </p:sp>
      <p:sp>
        <p:nvSpPr>
          <p:cNvPr id="237" name="67.8"/>
          <p:cNvSpPr txBox="1"/>
          <p:nvPr/>
        </p:nvSpPr>
        <p:spPr>
          <a:xfrm>
            <a:off x="28264104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67.8</a:t>
            </a:r>
          </a:p>
        </p:txBody>
      </p:sp>
      <p:sp>
        <p:nvSpPr>
          <p:cNvPr id="238" name="22.1"/>
          <p:cNvSpPr txBox="1"/>
          <p:nvPr/>
        </p:nvSpPr>
        <p:spPr>
          <a:xfrm>
            <a:off x="29507687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22.1</a:t>
            </a:r>
          </a:p>
        </p:txBody>
      </p:sp>
      <p:sp>
        <p:nvSpPr>
          <p:cNvPr id="239" name="13.3"/>
          <p:cNvSpPr txBox="1"/>
          <p:nvPr/>
        </p:nvSpPr>
        <p:spPr>
          <a:xfrm>
            <a:off x="30751272" y="1151229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13.3</a:t>
            </a:r>
          </a:p>
        </p:txBody>
      </p:sp>
      <p:sp>
        <p:nvSpPr>
          <p:cNvPr id="240" name="Relative gain (%)"/>
          <p:cNvSpPr txBox="1"/>
          <p:nvPr/>
        </p:nvSpPr>
        <p:spPr>
          <a:xfrm>
            <a:off x="11009376" y="11823192"/>
            <a:ext cx="2240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Relative gain (%)</a:t>
            </a:r>
          </a:p>
        </p:txBody>
      </p:sp>
      <p:sp>
        <p:nvSpPr>
          <p:cNvPr id="241" name="+0.1"/>
          <p:cNvSpPr txBox="1"/>
          <p:nvPr/>
        </p:nvSpPr>
        <p:spPr>
          <a:xfrm>
            <a:off x="13341096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+0.1</a:t>
            </a:r>
          </a:p>
        </p:txBody>
      </p:sp>
      <p:sp>
        <p:nvSpPr>
          <p:cNvPr id="242" name="+4.1"/>
          <p:cNvSpPr txBox="1"/>
          <p:nvPr/>
        </p:nvSpPr>
        <p:spPr>
          <a:xfrm>
            <a:off x="14584680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+4.1</a:t>
            </a:r>
          </a:p>
        </p:txBody>
      </p:sp>
      <p:sp>
        <p:nvSpPr>
          <p:cNvPr id="243" name="+2.7"/>
          <p:cNvSpPr txBox="1"/>
          <p:nvPr/>
        </p:nvSpPr>
        <p:spPr>
          <a:xfrm>
            <a:off x="15828263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+2.7</a:t>
            </a:r>
          </a:p>
        </p:txBody>
      </p:sp>
      <p:sp>
        <p:nvSpPr>
          <p:cNvPr id="244" name="-1.0"/>
          <p:cNvSpPr txBox="1"/>
          <p:nvPr/>
        </p:nvSpPr>
        <p:spPr>
          <a:xfrm>
            <a:off x="17071848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A4545"/>
                </a:solidFill>
                <a:latin typeface="Times New Roman"/>
              </a:defRPr>
            </a:pPr>
            <a:r>
              <a:rPr>
                <a:latin typeface="Times New Roman"/>
              </a:rPr>
              <a:t>-1.0</a:t>
            </a:r>
          </a:p>
        </p:txBody>
      </p:sp>
      <p:sp>
        <p:nvSpPr>
          <p:cNvPr id="245" name="-4.2"/>
          <p:cNvSpPr txBox="1"/>
          <p:nvPr/>
        </p:nvSpPr>
        <p:spPr>
          <a:xfrm>
            <a:off x="18315432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A4545"/>
                </a:solidFill>
                <a:latin typeface="Times New Roman"/>
              </a:defRPr>
            </a:pPr>
            <a:r>
              <a:rPr>
                <a:latin typeface="Times New Roman"/>
              </a:rPr>
              <a:t>-4.2</a:t>
            </a:r>
          </a:p>
        </p:txBody>
      </p:sp>
      <p:sp>
        <p:nvSpPr>
          <p:cNvPr id="246" name="+5.7"/>
          <p:cNvSpPr txBox="1"/>
          <p:nvPr/>
        </p:nvSpPr>
        <p:spPr>
          <a:xfrm>
            <a:off x="19559016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+5.7</a:t>
            </a:r>
          </a:p>
        </p:txBody>
      </p:sp>
      <p:sp>
        <p:nvSpPr>
          <p:cNvPr id="247" name="+0.5"/>
          <p:cNvSpPr txBox="1"/>
          <p:nvPr/>
        </p:nvSpPr>
        <p:spPr>
          <a:xfrm>
            <a:off x="20802600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+0.5</a:t>
            </a:r>
          </a:p>
        </p:txBody>
      </p:sp>
      <p:sp>
        <p:nvSpPr>
          <p:cNvPr id="248" name="+9.8"/>
          <p:cNvSpPr txBox="1"/>
          <p:nvPr/>
        </p:nvSpPr>
        <p:spPr>
          <a:xfrm>
            <a:off x="22046184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+9.8</a:t>
            </a:r>
          </a:p>
        </p:txBody>
      </p:sp>
      <p:sp>
        <p:nvSpPr>
          <p:cNvPr id="249" name="-0.4"/>
          <p:cNvSpPr txBox="1"/>
          <p:nvPr/>
        </p:nvSpPr>
        <p:spPr>
          <a:xfrm>
            <a:off x="23289768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A4545"/>
                </a:solidFill>
                <a:latin typeface="Times New Roman"/>
              </a:defRPr>
            </a:pPr>
            <a:r>
              <a:rPr>
                <a:latin typeface="Times New Roman"/>
              </a:rPr>
              <a:t>-0.4</a:t>
            </a:r>
          </a:p>
        </p:txBody>
      </p:sp>
      <p:sp>
        <p:nvSpPr>
          <p:cNvPr id="250" name="+2.3"/>
          <p:cNvSpPr txBox="1"/>
          <p:nvPr/>
        </p:nvSpPr>
        <p:spPr>
          <a:xfrm>
            <a:off x="24533352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+2.3</a:t>
            </a:r>
          </a:p>
        </p:txBody>
      </p:sp>
      <p:sp>
        <p:nvSpPr>
          <p:cNvPr id="251" name="+1.9"/>
          <p:cNvSpPr txBox="1"/>
          <p:nvPr/>
        </p:nvSpPr>
        <p:spPr>
          <a:xfrm>
            <a:off x="25776936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+1.9</a:t>
            </a:r>
          </a:p>
        </p:txBody>
      </p:sp>
      <p:sp>
        <p:nvSpPr>
          <p:cNvPr id="252" name="+2.5"/>
          <p:cNvSpPr txBox="1"/>
          <p:nvPr/>
        </p:nvSpPr>
        <p:spPr>
          <a:xfrm>
            <a:off x="27020520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+2.5</a:t>
            </a:r>
          </a:p>
        </p:txBody>
      </p:sp>
      <p:sp>
        <p:nvSpPr>
          <p:cNvPr id="253" name="-2.2"/>
          <p:cNvSpPr txBox="1"/>
          <p:nvPr/>
        </p:nvSpPr>
        <p:spPr>
          <a:xfrm>
            <a:off x="28264104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A4545"/>
                </a:solidFill>
                <a:latin typeface="Times New Roman"/>
              </a:defRPr>
            </a:pPr>
            <a:r>
              <a:rPr>
                <a:latin typeface="Times New Roman"/>
              </a:rPr>
              <a:t>-2.2</a:t>
            </a:r>
          </a:p>
        </p:txBody>
      </p:sp>
      <p:sp>
        <p:nvSpPr>
          <p:cNvPr id="254" name="+1.0"/>
          <p:cNvSpPr txBox="1"/>
          <p:nvPr/>
        </p:nvSpPr>
        <p:spPr>
          <a:xfrm>
            <a:off x="29507687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+1.0</a:t>
            </a:r>
          </a:p>
        </p:txBody>
      </p:sp>
      <p:sp>
        <p:nvSpPr>
          <p:cNvPr id="255" name="+9.5"/>
          <p:cNvSpPr txBox="1"/>
          <p:nvPr/>
        </p:nvSpPr>
        <p:spPr>
          <a:xfrm>
            <a:off x="30751272" y="1182319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+9.5</a:t>
            </a:r>
          </a:p>
        </p:txBody>
      </p:sp>
      <p:sp>
        <p:nvSpPr>
          <p:cNvPr id="256" name="BPE · 200K"/>
          <p:cNvSpPr txBox="1"/>
          <p:nvPr/>
        </p:nvSpPr>
        <p:spPr>
          <a:xfrm>
            <a:off x="11009376" y="12252960"/>
            <a:ext cx="2240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BPE · 200K</a:t>
            </a:r>
          </a:p>
        </p:txBody>
      </p:sp>
      <p:sp>
        <p:nvSpPr>
          <p:cNvPr id="257" name="46.9"/>
          <p:cNvSpPr txBox="1"/>
          <p:nvPr/>
        </p:nvSpPr>
        <p:spPr>
          <a:xfrm>
            <a:off x="13341096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46.9</a:t>
            </a:r>
          </a:p>
        </p:txBody>
      </p:sp>
      <p:sp>
        <p:nvSpPr>
          <p:cNvPr id="258" name="54.5"/>
          <p:cNvSpPr txBox="1"/>
          <p:nvPr/>
        </p:nvSpPr>
        <p:spPr>
          <a:xfrm>
            <a:off x="14584680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54.5</a:t>
            </a:r>
          </a:p>
        </p:txBody>
      </p:sp>
      <p:sp>
        <p:nvSpPr>
          <p:cNvPr id="259" name="77.6"/>
          <p:cNvSpPr txBox="1"/>
          <p:nvPr/>
        </p:nvSpPr>
        <p:spPr>
          <a:xfrm>
            <a:off x="15828263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77.6</a:t>
            </a:r>
          </a:p>
        </p:txBody>
      </p:sp>
      <p:sp>
        <p:nvSpPr>
          <p:cNvPr id="260" name="64.8"/>
          <p:cNvSpPr txBox="1"/>
          <p:nvPr/>
        </p:nvSpPr>
        <p:spPr>
          <a:xfrm>
            <a:off x="17071848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64.8</a:t>
            </a:r>
          </a:p>
        </p:txBody>
      </p:sp>
      <p:sp>
        <p:nvSpPr>
          <p:cNvPr id="261" name="75.5"/>
          <p:cNvSpPr txBox="1"/>
          <p:nvPr/>
        </p:nvSpPr>
        <p:spPr>
          <a:xfrm>
            <a:off x="18315432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75.5</a:t>
            </a:r>
          </a:p>
        </p:txBody>
      </p:sp>
      <p:sp>
        <p:nvSpPr>
          <p:cNvPr id="262" name="58.6"/>
          <p:cNvSpPr txBox="1"/>
          <p:nvPr/>
        </p:nvSpPr>
        <p:spPr>
          <a:xfrm>
            <a:off x="19559016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58.6</a:t>
            </a:r>
          </a:p>
        </p:txBody>
      </p:sp>
      <p:sp>
        <p:nvSpPr>
          <p:cNvPr id="263" name="69.9"/>
          <p:cNvSpPr txBox="1"/>
          <p:nvPr/>
        </p:nvSpPr>
        <p:spPr>
          <a:xfrm>
            <a:off x="20802600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69.9</a:t>
            </a:r>
          </a:p>
        </p:txBody>
      </p:sp>
      <p:sp>
        <p:nvSpPr>
          <p:cNvPr id="264" name="53.8"/>
          <p:cNvSpPr txBox="1"/>
          <p:nvPr/>
        </p:nvSpPr>
        <p:spPr>
          <a:xfrm>
            <a:off x="22046184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53.8</a:t>
            </a:r>
          </a:p>
        </p:txBody>
      </p:sp>
      <p:sp>
        <p:nvSpPr>
          <p:cNvPr id="265" name="76.2"/>
          <p:cNvSpPr txBox="1"/>
          <p:nvPr/>
        </p:nvSpPr>
        <p:spPr>
          <a:xfrm>
            <a:off x="23289768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76.2</a:t>
            </a:r>
          </a:p>
        </p:txBody>
      </p:sp>
      <p:sp>
        <p:nvSpPr>
          <p:cNvPr id="266" name="53.5"/>
          <p:cNvSpPr txBox="1"/>
          <p:nvPr/>
        </p:nvSpPr>
        <p:spPr>
          <a:xfrm>
            <a:off x="24533352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53.5</a:t>
            </a:r>
          </a:p>
        </p:txBody>
      </p:sp>
      <p:sp>
        <p:nvSpPr>
          <p:cNvPr id="267" name="49.7"/>
          <p:cNvSpPr txBox="1"/>
          <p:nvPr/>
        </p:nvSpPr>
        <p:spPr>
          <a:xfrm>
            <a:off x="25776936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49.7</a:t>
            </a:r>
          </a:p>
        </p:txBody>
      </p:sp>
      <p:sp>
        <p:nvSpPr>
          <p:cNvPr id="268" name="74.9"/>
          <p:cNvSpPr txBox="1"/>
          <p:nvPr/>
        </p:nvSpPr>
        <p:spPr>
          <a:xfrm>
            <a:off x="27020520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74.9</a:t>
            </a:r>
          </a:p>
        </p:txBody>
      </p:sp>
      <p:sp>
        <p:nvSpPr>
          <p:cNvPr id="269" name="69.0"/>
          <p:cNvSpPr txBox="1"/>
          <p:nvPr/>
        </p:nvSpPr>
        <p:spPr>
          <a:xfrm>
            <a:off x="28264104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69.0</a:t>
            </a:r>
          </a:p>
        </p:txBody>
      </p:sp>
      <p:sp>
        <p:nvSpPr>
          <p:cNvPr id="270" name="22.7"/>
          <p:cNvSpPr txBox="1"/>
          <p:nvPr/>
        </p:nvSpPr>
        <p:spPr>
          <a:xfrm>
            <a:off x="29507687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22.7</a:t>
            </a:r>
          </a:p>
        </p:txBody>
      </p:sp>
      <p:sp>
        <p:nvSpPr>
          <p:cNvPr id="271" name="10.3"/>
          <p:cNvSpPr txBox="1"/>
          <p:nvPr/>
        </p:nvSpPr>
        <p:spPr>
          <a:xfrm>
            <a:off x="30751272" y="12252960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10.3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954511" y="12540996"/>
            <a:ext cx="21150072" cy="310896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273" name="EvoLen · 200K"/>
          <p:cNvSpPr txBox="1"/>
          <p:nvPr/>
        </p:nvSpPr>
        <p:spPr>
          <a:xfrm>
            <a:off x="11009376" y="12563856"/>
            <a:ext cx="2240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EvoLen · 200K</a:t>
            </a:r>
          </a:p>
        </p:txBody>
      </p:sp>
      <p:sp>
        <p:nvSpPr>
          <p:cNvPr id="274" name="47.9"/>
          <p:cNvSpPr txBox="1"/>
          <p:nvPr/>
        </p:nvSpPr>
        <p:spPr>
          <a:xfrm>
            <a:off x="13341096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47.9</a:t>
            </a:r>
          </a:p>
        </p:txBody>
      </p:sp>
      <p:sp>
        <p:nvSpPr>
          <p:cNvPr id="275" name="58.9"/>
          <p:cNvSpPr txBox="1"/>
          <p:nvPr/>
        </p:nvSpPr>
        <p:spPr>
          <a:xfrm>
            <a:off x="14584680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58.9</a:t>
            </a:r>
          </a:p>
        </p:txBody>
      </p:sp>
      <p:sp>
        <p:nvSpPr>
          <p:cNvPr id="276" name="78.1"/>
          <p:cNvSpPr txBox="1"/>
          <p:nvPr/>
        </p:nvSpPr>
        <p:spPr>
          <a:xfrm>
            <a:off x="15828263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78.1</a:t>
            </a:r>
          </a:p>
        </p:txBody>
      </p:sp>
      <p:sp>
        <p:nvSpPr>
          <p:cNvPr id="277" name="64.4"/>
          <p:cNvSpPr txBox="1"/>
          <p:nvPr/>
        </p:nvSpPr>
        <p:spPr>
          <a:xfrm>
            <a:off x="17071848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64.4</a:t>
            </a:r>
          </a:p>
        </p:txBody>
      </p:sp>
      <p:sp>
        <p:nvSpPr>
          <p:cNvPr id="278" name="75.6"/>
          <p:cNvSpPr txBox="1"/>
          <p:nvPr/>
        </p:nvSpPr>
        <p:spPr>
          <a:xfrm>
            <a:off x="18315432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75.6</a:t>
            </a:r>
          </a:p>
        </p:txBody>
      </p:sp>
      <p:sp>
        <p:nvSpPr>
          <p:cNvPr id="279" name="61.2"/>
          <p:cNvSpPr txBox="1"/>
          <p:nvPr/>
        </p:nvSpPr>
        <p:spPr>
          <a:xfrm>
            <a:off x="19559016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61.2</a:t>
            </a:r>
          </a:p>
        </p:txBody>
      </p:sp>
      <p:sp>
        <p:nvSpPr>
          <p:cNvPr id="280" name="70.8"/>
          <p:cNvSpPr txBox="1"/>
          <p:nvPr/>
        </p:nvSpPr>
        <p:spPr>
          <a:xfrm>
            <a:off x="20802600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70.8</a:t>
            </a:r>
          </a:p>
        </p:txBody>
      </p:sp>
      <p:sp>
        <p:nvSpPr>
          <p:cNvPr id="281" name="64.2"/>
          <p:cNvSpPr txBox="1"/>
          <p:nvPr/>
        </p:nvSpPr>
        <p:spPr>
          <a:xfrm>
            <a:off x="22046184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64.2</a:t>
            </a:r>
          </a:p>
        </p:txBody>
      </p:sp>
      <p:sp>
        <p:nvSpPr>
          <p:cNvPr id="282" name="77.0"/>
          <p:cNvSpPr txBox="1"/>
          <p:nvPr/>
        </p:nvSpPr>
        <p:spPr>
          <a:xfrm>
            <a:off x="23289768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77.0</a:t>
            </a:r>
          </a:p>
        </p:txBody>
      </p:sp>
      <p:sp>
        <p:nvSpPr>
          <p:cNvPr id="283" name="55.4"/>
          <p:cNvSpPr txBox="1"/>
          <p:nvPr/>
        </p:nvSpPr>
        <p:spPr>
          <a:xfrm>
            <a:off x="24533352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55.4</a:t>
            </a:r>
          </a:p>
        </p:txBody>
      </p:sp>
      <p:sp>
        <p:nvSpPr>
          <p:cNvPr id="284" name="50.0"/>
          <p:cNvSpPr txBox="1"/>
          <p:nvPr/>
        </p:nvSpPr>
        <p:spPr>
          <a:xfrm>
            <a:off x="25776936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50.0</a:t>
            </a:r>
          </a:p>
        </p:txBody>
      </p:sp>
      <p:sp>
        <p:nvSpPr>
          <p:cNvPr id="285" name="76.3"/>
          <p:cNvSpPr txBox="1"/>
          <p:nvPr/>
        </p:nvSpPr>
        <p:spPr>
          <a:xfrm>
            <a:off x="27020520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76.3</a:t>
            </a:r>
          </a:p>
        </p:txBody>
      </p:sp>
      <p:sp>
        <p:nvSpPr>
          <p:cNvPr id="286" name="68.4"/>
          <p:cNvSpPr txBox="1"/>
          <p:nvPr/>
        </p:nvSpPr>
        <p:spPr>
          <a:xfrm>
            <a:off x="28264104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68.4</a:t>
            </a:r>
          </a:p>
        </p:txBody>
      </p:sp>
      <p:sp>
        <p:nvSpPr>
          <p:cNvPr id="287" name="22.5"/>
          <p:cNvSpPr txBox="1"/>
          <p:nvPr/>
        </p:nvSpPr>
        <p:spPr>
          <a:xfrm>
            <a:off x="29507687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22.5</a:t>
            </a:r>
          </a:p>
        </p:txBody>
      </p:sp>
      <p:sp>
        <p:nvSpPr>
          <p:cNvPr id="288" name="13.7"/>
          <p:cNvSpPr txBox="1"/>
          <p:nvPr/>
        </p:nvSpPr>
        <p:spPr>
          <a:xfrm>
            <a:off x="30751272" y="12563856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13.7</a:t>
            </a:r>
          </a:p>
        </p:txBody>
      </p:sp>
      <p:sp>
        <p:nvSpPr>
          <p:cNvPr id="289" name="Relative gain (%)"/>
          <p:cNvSpPr txBox="1"/>
          <p:nvPr/>
        </p:nvSpPr>
        <p:spPr>
          <a:xfrm>
            <a:off x="11009376" y="12874752"/>
            <a:ext cx="2240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Relative gain (%)</a:t>
            </a:r>
          </a:p>
        </p:txBody>
      </p:sp>
      <p:sp>
        <p:nvSpPr>
          <p:cNvPr id="290" name="+2.1"/>
          <p:cNvSpPr txBox="1"/>
          <p:nvPr/>
        </p:nvSpPr>
        <p:spPr>
          <a:xfrm>
            <a:off x="13341096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+2.1</a:t>
            </a:r>
          </a:p>
        </p:txBody>
      </p:sp>
      <p:sp>
        <p:nvSpPr>
          <p:cNvPr id="291" name="+8.1"/>
          <p:cNvSpPr txBox="1"/>
          <p:nvPr/>
        </p:nvSpPr>
        <p:spPr>
          <a:xfrm>
            <a:off x="14584680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+8.1</a:t>
            </a:r>
          </a:p>
        </p:txBody>
      </p:sp>
      <p:sp>
        <p:nvSpPr>
          <p:cNvPr id="292" name="+0.6"/>
          <p:cNvSpPr txBox="1"/>
          <p:nvPr/>
        </p:nvSpPr>
        <p:spPr>
          <a:xfrm>
            <a:off x="15828263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+0.6</a:t>
            </a:r>
          </a:p>
        </p:txBody>
      </p:sp>
      <p:sp>
        <p:nvSpPr>
          <p:cNvPr id="293" name="-0.6"/>
          <p:cNvSpPr txBox="1"/>
          <p:nvPr/>
        </p:nvSpPr>
        <p:spPr>
          <a:xfrm>
            <a:off x="17071848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A4545"/>
                </a:solidFill>
                <a:latin typeface="Times New Roman"/>
              </a:defRPr>
            </a:pPr>
            <a:r>
              <a:rPr>
                <a:latin typeface="Times New Roman"/>
              </a:rPr>
              <a:t>-0.6</a:t>
            </a:r>
          </a:p>
        </p:txBody>
      </p:sp>
      <p:sp>
        <p:nvSpPr>
          <p:cNvPr id="294" name="+0.1"/>
          <p:cNvSpPr txBox="1"/>
          <p:nvPr/>
        </p:nvSpPr>
        <p:spPr>
          <a:xfrm>
            <a:off x="18315432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+0.1</a:t>
            </a:r>
          </a:p>
        </p:txBody>
      </p:sp>
      <p:sp>
        <p:nvSpPr>
          <p:cNvPr id="295" name="+4.4"/>
          <p:cNvSpPr txBox="1"/>
          <p:nvPr/>
        </p:nvSpPr>
        <p:spPr>
          <a:xfrm>
            <a:off x="19559016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+4.4</a:t>
            </a:r>
          </a:p>
        </p:txBody>
      </p:sp>
      <p:sp>
        <p:nvSpPr>
          <p:cNvPr id="296" name="+1.3"/>
          <p:cNvSpPr txBox="1"/>
          <p:nvPr/>
        </p:nvSpPr>
        <p:spPr>
          <a:xfrm>
            <a:off x="20802600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+1.3</a:t>
            </a:r>
          </a:p>
        </p:txBody>
      </p:sp>
      <p:sp>
        <p:nvSpPr>
          <p:cNvPr id="297" name="+19.3"/>
          <p:cNvSpPr txBox="1"/>
          <p:nvPr/>
        </p:nvSpPr>
        <p:spPr>
          <a:xfrm>
            <a:off x="22046184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+19.3</a:t>
            </a:r>
          </a:p>
        </p:txBody>
      </p:sp>
      <p:sp>
        <p:nvSpPr>
          <p:cNvPr id="298" name="+1.0"/>
          <p:cNvSpPr txBox="1"/>
          <p:nvPr/>
        </p:nvSpPr>
        <p:spPr>
          <a:xfrm>
            <a:off x="23289768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+1.0</a:t>
            </a:r>
          </a:p>
        </p:txBody>
      </p:sp>
      <p:sp>
        <p:nvSpPr>
          <p:cNvPr id="299" name="+3.6"/>
          <p:cNvSpPr txBox="1"/>
          <p:nvPr/>
        </p:nvSpPr>
        <p:spPr>
          <a:xfrm>
            <a:off x="24533352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+3.6</a:t>
            </a:r>
          </a:p>
        </p:txBody>
      </p:sp>
      <p:sp>
        <p:nvSpPr>
          <p:cNvPr id="300" name="+0.6"/>
          <p:cNvSpPr txBox="1"/>
          <p:nvPr/>
        </p:nvSpPr>
        <p:spPr>
          <a:xfrm>
            <a:off x="25776936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+0.6</a:t>
            </a:r>
          </a:p>
        </p:txBody>
      </p:sp>
      <p:sp>
        <p:nvSpPr>
          <p:cNvPr id="301" name="+1.9"/>
          <p:cNvSpPr txBox="1"/>
          <p:nvPr/>
        </p:nvSpPr>
        <p:spPr>
          <a:xfrm>
            <a:off x="27020520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+1.9</a:t>
            </a:r>
          </a:p>
        </p:txBody>
      </p:sp>
      <p:sp>
        <p:nvSpPr>
          <p:cNvPr id="302" name="-0.9"/>
          <p:cNvSpPr txBox="1"/>
          <p:nvPr/>
        </p:nvSpPr>
        <p:spPr>
          <a:xfrm>
            <a:off x="28264104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A4545"/>
                </a:solidFill>
                <a:latin typeface="Times New Roman"/>
              </a:defRPr>
            </a:pPr>
            <a:r>
              <a:rPr>
                <a:latin typeface="Times New Roman"/>
              </a:rPr>
              <a:t>-0.9</a:t>
            </a:r>
          </a:p>
        </p:txBody>
      </p:sp>
      <p:sp>
        <p:nvSpPr>
          <p:cNvPr id="303" name="-0.9"/>
          <p:cNvSpPr txBox="1"/>
          <p:nvPr/>
        </p:nvSpPr>
        <p:spPr>
          <a:xfrm>
            <a:off x="29507687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A4545"/>
                </a:solidFill>
                <a:latin typeface="Times New Roman"/>
              </a:defRPr>
            </a:pPr>
            <a:r>
              <a:rPr>
                <a:latin typeface="Times New Roman"/>
              </a:rPr>
              <a:t>-0.9</a:t>
            </a:r>
          </a:p>
        </p:txBody>
      </p:sp>
      <p:sp>
        <p:nvSpPr>
          <p:cNvPr id="304" name="+33.0"/>
          <p:cNvSpPr txBox="1"/>
          <p:nvPr/>
        </p:nvSpPr>
        <p:spPr>
          <a:xfrm>
            <a:off x="30751272" y="12874752"/>
            <a:ext cx="12070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+33.0</a:t>
            </a:r>
          </a:p>
        </p:txBody>
      </p:sp>
      <p:sp>
        <p:nvSpPr>
          <p:cNvPr id="305" name="40 / 56 tasks improved"/>
          <p:cNvSpPr txBox="1"/>
          <p:nvPr/>
        </p:nvSpPr>
        <p:spPr>
          <a:xfrm>
            <a:off x="11055096" y="13377672"/>
            <a:ext cx="6583680" cy="466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40 / 56 tasks improved</a:t>
            </a:r>
          </a:p>
        </p:txBody>
      </p:sp>
      <p:sp>
        <p:nvSpPr>
          <p:cNvPr id="306" name="Mean ΔMCC +0.93 pp"/>
          <p:cNvSpPr txBox="1"/>
          <p:nvPr/>
        </p:nvSpPr>
        <p:spPr>
          <a:xfrm>
            <a:off x="18306288" y="13377672"/>
            <a:ext cx="7406640" cy="466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F86"/>
                </a:solidFill>
                <a:latin typeface="Times New Roman"/>
              </a:defRPr>
            </a:pPr>
            <a:r>
              <a:rPr>
                <a:latin typeface="Times New Roman"/>
              </a:rPr>
              <a:t>Mean ΔMCC +0.93 pp</a:t>
            </a:r>
          </a:p>
        </p:txBody>
      </p:sp>
      <p:sp>
        <p:nvSpPr>
          <p:cNvPr id="307" name="95% CI [+0.34, +1.54]&#10;p = 0.0018"/>
          <p:cNvSpPr txBox="1"/>
          <p:nvPr/>
        </p:nvSpPr>
        <p:spPr>
          <a:xfrm>
            <a:off x="26014680" y="13377672"/>
            <a:ext cx="62636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95% CI [+0.34, +1.54]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23454"/>
                </a:solidFill>
                <a:latin typeface="Times New Roman"/>
              </a:defRPr>
            </a:pPr>
            <a:r>
              <a:rPr>
                <a:latin typeface="Times New Roman"/>
              </a:rPr>
              <a:t>p = 0.0018</a:t>
            </a:r>
          </a:p>
        </p:txBody>
      </p:sp>
      <p:sp>
        <p:nvSpPr>
          <p:cNvPr id="308" name="Aggregate: 100K vs. BPE · Same architecture and objective · Relative g"/>
          <p:cNvSpPr txBox="1"/>
          <p:nvPr/>
        </p:nvSpPr>
        <p:spPr>
          <a:xfrm>
            <a:off x="11064240" y="13853160"/>
            <a:ext cx="20939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Aggregate: 100K vs. BPE · Same architecture and objective · Relative gains transcribed from Table 1 [1]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502920" y="14310360"/>
            <a:ext cx="31885127" cy="12801"/>
          </a:xfrm>
          <a:prstGeom prst="rect">
            <a:avLst/>
          </a:prstGeom>
          <a:solidFill>
            <a:srgbClr val="D7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10" name="REFERENCES"/>
          <p:cNvSpPr txBox="1"/>
          <p:nvPr/>
        </p:nvSpPr>
        <p:spPr>
          <a:xfrm>
            <a:off x="548640" y="14493240"/>
            <a:ext cx="21031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5394"/>
                </a:solidFill>
                <a:latin typeface="Times New Roman"/>
              </a:defRPr>
            </a:pPr>
            <a:r>
              <a:rPr>
                <a:latin typeface="Times New Roman"/>
              </a:rPr>
              <a:t>REFERENCES</a:t>
            </a:r>
          </a:p>
        </p:txBody>
      </p:sp>
      <p:sp>
        <p:nvSpPr>
          <p:cNvPr id="311" name="[1] Huang et al. EvoLen: Evolution-Guided Tokenization for DNA Languag"/>
          <p:cNvSpPr txBox="1"/>
          <p:nvPr/>
        </p:nvSpPr>
        <p:spPr>
          <a:xfrm>
            <a:off x="2743200" y="14465808"/>
            <a:ext cx="1499615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[1] Huang et al. EvoLen: Evolution-Guided Tokenization for DNA Language Model. COLM, 2026.</a:t>
            </a:r>
          </a:p>
        </p:txBody>
      </p:sp>
      <p:sp>
        <p:nvSpPr>
          <p:cNvPr id="312" name="[2] Sennrich et al. Neural Machine Translation of Rare Words with Subw"/>
          <p:cNvSpPr txBox="1"/>
          <p:nvPr/>
        </p:nvSpPr>
        <p:spPr>
          <a:xfrm>
            <a:off x="2743200" y="14740128"/>
            <a:ext cx="1499615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[2] Sennrich et al. Neural Machine Translation of Rare Words with Subword Units. ACL, 2016.</a:t>
            </a:r>
          </a:p>
        </p:txBody>
      </p:sp>
      <p:sp>
        <p:nvSpPr>
          <p:cNvPr id="313" name="[3] Pollard et al. Detection of Nonneutral Substitution Rates on Mamma"/>
          <p:cNvSpPr txBox="1"/>
          <p:nvPr/>
        </p:nvSpPr>
        <p:spPr>
          <a:xfrm>
            <a:off x="2743200" y="15014448"/>
            <a:ext cx="1499615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[3] Pollard et al. Detection of Nonneutral Substitution Rates on Mammalian Phylogenies. Genome Res., 2010.</a:t>
            </a:r>
          </a:p>
        </p:txBody>
      </p:sp>
      <p:sp>
        <p:nvSpPr>
          <p:cNvPr id="314" name="[4] Rauluseviciute et al. JASPAR 2024: 20th Anniversary of the Open-ac"/>
          <p:cNvSpPr txBox="1"/>
          <p:nvPr/>
        </p:nvSpPr>
        <p:spPr>
          <a:xfrm>
            <a:off x="18288000" y="14465808"/>
            <a:ext cx="14081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[4] Rauluseviciute et al. JASPAR 2024: 20th Anniversary of the Open-access Database</a:t>
            </a:r>
          </a:p>
        </p:txBody>
      </p:sp>
      <p:sp>
        <p:nvSpPr>
          <p:cNvPr id="315" name="     of Transcription Factor Binding Profiles. Nucleic Acids Res., 202"/>
          <p:cNvSpPr txBox="1"/>
          <p:nvPr/>
        </p:nvSpPr>
        <p:spPr>
          <a:xfrm>
            <a:off x="18288000" y="14740128"/>
            <a:ext cx="14081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     of Transcription Factor Binding Profiles. Nucleic Acids Res., 2024.</a:t>
            </a:r>
          </a:p>
        </p:txBody>
      </p:sp>
      <p:sp>
        <p:nvSpPr>
          <p:cNvPr id="316" name="[5] Zhou et al. DNABERT-2: Efficient Foundation Model and Benchmark fo"/>
          <p:cNvSpPr txBox="1"/>
          <p:nvPr/>
        </p:nvSpPr>
        <p:spPr>
          <a:xfrm>
            <a:off x="18288000" y="15014448"/>
            <a:ext cx="14081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575"/>
                </a:solidFill>
                <a:latin typeface="Times New Roman"/>
              </a:defRPr>
            </a:pPr>
            <a:r>
              <a:rPr>
                <a:latin typeface="Times New Roman"/>
              </a:rPr>
              <a:t>[5] Zhou et al. DNABERT-2: Efficient Foundation Model and Benchmark for Multi-Species Genome. 2023.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0" y="15462504"/>
            <a:ext cx="32918400" cy="996696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318" name="Picture 3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5691104"/>
            <a:ext cx="2560320" cy="280994"/>
          </a:xfrm>
          <a:prstGeom prst="rect">
            <a:avLst/>
          </a:prstGeom>
        </p:spPr>
      </p:pic>
      <p:sp>
        <p:nvSpPr>
          <p:cNvPr id="319" name="PAPER  arXiv:2604.08698  ·  CODE  github.com/HN020719/EvoLen"/>
          <p:cNvSpPr txBox="1"/>
          <p:nvPr/>
        </p:nvSpPr>
        <p:spPr>
          <a:xfrm>
            <a:off x="3438144" y="15590520"/>
            <a:ext cx="126187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PAPER  arXiv:2604.08698  ·  CODE  github.com/HN020719/EvoLen</a:t>
            </a:r>
          </a:p>
        </p:txBody>
      </p:sp>
      <p:sp>
        <p:nvSpPr>
          <p:cNvPr id="320" name="MODELS  huggingface.co/EvoLenTokenizer  ·  n5huang@ucsd.edu"/>
          <p:cNvSpPr txBox="1"/>
          <p:nvPr/>
        </p:nvSpPr>
        <p:spPr>
          <a:xfrm>
            <a:off x="3438144" y="15983712"/>
            <a:ext cx="126187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MODELS  huggingface.co/EvoLenTokenizer  ·  n5huang@ucsd.edu</a:t>
            </a:r>
          </a:p>
        </p:txBody>
      </p:sp>
      <p:sp>
        <p:nvSpPr>
          <p:cNvPr id="321" name="TOKENIZATION IS A BIOLOGICAL INDUCTIVE BIAS"/>
          <p:cNvSpPr txBox="1"/>
          <p:nvPr/>
        </p:nvSpPr>
        <p:spPr>
          <a:xfrm>
            <a:off x="17007840" y="15581376"/>
            <a:ext cx="152704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TOKENIZATION IS A BIOLOGICAL INDUCTIVE BIAS</a:t>
            </a:r>
          </a:p>
        </p:txBody>
      </p:sp>
      <p:sp>
        <p:nvSpPr>
          <p:cNvPr id="322" name="Evolution-guided tokens → better genomic modeling"/>
          <p:cNvSpPr txBox="1"/>
          <p:nvPr/>
        </p:nvSpPr>
        <p:spPr>
          <a:xfrm>
            <a:off x="17007840" y="15983712"/>
            <a:ext cx="152704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Evolution-guided tokens → better genomic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ter Template 36&quot; x 48&quot;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EvoLen — COLM 2026 Poster with Figures and References</dc:title>
  <cp:lastModifiedBy>python-pptx</cp:lastModifiedBy>
  <cp:revision>1</cp:revision>
  <dcterms:modified xsi:type="dcterms:W3CDTF">2026-09-27T00:33:03Z</dcterms:modified>
  <dc:subject>36 x 18 inches at half scale; print at 200% for 72 x 36 inches.</dc:subject>
  <dc:creator/>
  <cp:keywords>COLM 2026, blank poster, landscape, half scale, print at 200%</cp:keywords>
</cp:coreProperties>
</file>